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09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id="{C897214F-0C72-D208-DDFB-34987180F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"/>
            <a:ext cx="12176116" cy="1983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7A3993-6CF5-96DD-D423-D0D22E1447DA}"/>
              </a:ext>
            </a:extLst>
          </p:cNvPr>
          <p:cNvSpPr txBox="1"/>
          <p:nvPr/>
        </p:nvSpPr>
        <p:spPr>
          <a:xfrm>
            <a:off x="1530849" y="2424701"/>
            <a:ext cx="921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Comparative Study of NLP Models and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5762A-CF86-A689-E77B-4FA330290022}"/>
              </a:ext>
            </a:extLst>
          </p:cNvPr>
          <p:cNvSpPr txBox="1"/>
          <p:nvPr/>
        </p:nvSpPr>
        <p:spPr>
          <a:xfrm>
            <a:off x="2650732" y="3246902"/>
            <a:ext cx="6495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DSA0305-Natural Language 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649D8-1F75-A38A-69C1-EFA20FF4DA9B}"/>
              </a:ext>
            </a:extLst>
          </p:cNvPr>
          <p:cNvSpPr txBox="1"/>
          <p:nvPr/>
        </p:nvSpPr>
        <p:spPr>
          <a:xfrm flipH="1">
            <a:off x="626724" y="4510355"/>
            <a:ext cx="4181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Miruthula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(192472001)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A5B2D-BFBE-1AF9-092F-251B44163F57}"/>
              </a:ext>
            </a:extLst>
          </p:cNvPr>
          <p:cNvSpPr txBox="1"/>
          <p:nvPr/>
        </p:nvSpPr>
        <p:spPr>
          <a:xfrm>
            <a:off x="8802384" y="4510355"/>
            <a:ext cx="60977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.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Anbazagan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124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5276" y="411480"/>
            <a:ext cx="48329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NLP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comparing models and algorithms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NLP?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AI that enables machines to read, interpret, and generate human language.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31520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compare models?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194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 (translation, sentiment, Q&amp;A) need different trade-offs in accuracy, speed and data needs.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46304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has moved from hand-written rules to statistics, then deep learning, then transformers.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3108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315200" y="32461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3566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3 model families on accuracy, complexity, interpretability and compute cost.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7474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6" name="Picture 2" descr="Get Transcript from Saveetha University ...">
            <a:extLst>
              <a:ext uri="{FF2B5EF4-FFF2-40B4-BE49-F238E27FC236}">
                <a16:creationId xmlns:a16="http://schemas.microsoft.com/office/drawing/2014/main" id="{620434DE-38C9-4BEF-E73F-730D958FB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Saveetha School of Engineering, Chennai ...">
            <a:extLst>
              <a:ext uri="{FF2B5EF4-FFF2-40B4-BE49-F238E27FC236}">
                <a16:creationId xmlns:a16="http://schemas.microsoft.com/office/drawing/2014/main" id="{3A81B704-70BB-5BFE-2032-DD54E2258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700" y="411480"/>
            <a:ext cx="726793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&amp; Statistical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probabilistic approaches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2244"/>
            <a:ext cx="502920" cy="502920"/>
          </a:xfrm>
          <a:prstGeom prst="ellipse">
            <a:avLst/>
          </a:prstGeom>
          <a:solidFill>
            <a:srgbClr val="3C4B9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522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08760" y="1801368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801368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grammar &amp; pattern rules (e.g. regex, ELIZA)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0" y="1801368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interpretability, no training data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086100"/>
            <a:ext cx="502920" cy="502920"/>
          </a:xfrm>
          <a:prstGeom prst="ellipse">
            <a:avLst/>
          </a:prstGeom>
          <a:solidFill>
            <a:srgbClr val="3C4B9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86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508760" y="2935224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935224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classifier using word-independence assumption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935224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strong baseline for text 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19956"/>
            <a:ext cx="502920" cy="502920"/>
          </a:xfrm>
          <a:prstGeom prst="ellipse">
            <a:avLst/>
          </a:prstGeom>
          <a:solidFill>
            <a:srgbClr val="3C4B9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199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1508760" y="406908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Models (HMM)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406908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labelling via state transition probabilities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4069080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POS tagging, speech recognition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9320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353812"/>
            <a:ext cx="502920" cy="502920"/>
          </a:xfrm>
          <a:prstGeom prst="ellipse">
            <a:avLst/>
          </a:prstGeom>
          <a:solidFill>
            <a:srgbClr val="3C4B9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538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1508760" y="5202936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Random Fields (CRF)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520293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dependencies between neighboring labels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5202936"/>
            <a:ext cx="2743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than HMM for NER, chunking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30" name="Picture 2" descr="Get Transcript from Saveetha University ...">
            <a:extLst>
              <a:ext uri="{FF2B5EF4-FFF2-40B4-BE49-F238E27FC236}">
                <a16:creationId xmlns:a16="http://schemas.microsoft.com/office/drawing/2014/main" id="{934967AB-EEDD-C18E-FFFC-FF92757B4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Saveetha School of Engineering, Chennai ...">
            <a:extLst>
              <a:ext uri="{FF2B5EF4-FFF2-40B4-BE49-F238E27FC236}">
                <a16:creationId xmlns:a16="http://schemas.microsoft.com/office/drawing/2014/main" id="{E336C692-6D1A-D763-A9EB-A58C025B6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77438" y="411480"/>
            <a:ext cx="822960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&amp; Deep Learning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learning to neural sequence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strong margin-based text classifier, works well on small/medium datasets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of decision trees, robust to noisy features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simple, fast, interpretable linear baseline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feature engineering (TF-IDF, n-grams)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29400" y="19202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— processes sequences step-by-step, captures short-term context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GRU — gated memory cells solve vanishing-gradient, capture long-range dependencies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for text — extracts local n-gram-like features via convolution filters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features automatically, needs larger labelled datasets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2" name="Picture 11" descr="Saveetha School of Engineering, Chennai ...">
            <a:extLst>
              <a:ext uri="{FF2B5EF4-FFF2-40B4-BE49-F238E27FC236}">
                <a16:creationId xmlns:a16="http://schemas.microsoft.com/office/drawing/2014/main" id="{CB969E36-D3CA-5C57-0E00-3290ADC6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Get Transcript from Saveetha University ...">
            <a:extLst>
              <a:ext uri="{FF2B5EF4-FFF2-40B4-BE49-F238E27FC236}">
                <a16:creationId xmlns:a16="http://schemas.microsoft.com/office/drawing/2014/main" id="{F0CB31A0-5308-9781-25E9-9C9411374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Transformer-Based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835666" y="534256"/>
            <a:ext cx="5942573" cy="837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/>
              <a:t>Transformer-Based Models</a:t>
            </a:r>
          </a:p>
        </p:txBody>
      </p:sp>
      <p:sp>
        <p:nvSpPr>
          <p:cNvPr id="4" name="Shape 2"/>
          <p:cNvSpPr/>
          <p:nvPr/>
        </p:nvSpPr>
        <p:spPr>
          <a:xfrm>
            <a:off x="495148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071"/>
          </a:solidFill>
          <a:ln/>
        </p:spPr>
      </p:sp>
      <p:sp>
        <p:nvSpPr>
          <p:cNvPr id="5" name="Shape 3"/>
          <p:cNvSpPr/>
          <p:nvPr/>
        </p:nvSpPr>
        <p:spPr>
          <a:xfrm>
            <a:off x="1935328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93532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678028" y="2880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9468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encoder, pre-trained via masked-language modeling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52348" y="4572000"/>
            <a:ext cx="2606040" cy="0"/>
          </a:xfrm>
          <a:prstGeom prst="line">
            <a:avLst/>
          </a:prstGeom>
          <a:noFill/>
          <a:ln w="12700">
            <a:solidFill>
              <a:srgbClr val="4A56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748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Classification, NER, Q&amp;A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5628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071"/>
          </a:solidFill>
          <a:ln/>
        </p:spPr>
      </p:sp>
      <p:sp>
        <p:nvSpPr>
          <p:cNvPr id="12" name="Shape 10"/>
          <p:cNvSpPr/>
          <p:nvPr/>
        </p:nvSpPr>
        <p:spPr>
          <a:xfrm>
            <a:off x="5775808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77580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4518508" y="2880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(3/4 family)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09948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decoder, generates text left-to-right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92828" y="4572000"/>
            <a:ext cx="2606040" cy="0"/>
          </a:xfrm>
          <a:prstGeom prst="line">
            <a:avLst/>
          </a:prstGeom>
          <a:noFill/>
          <a:ln w="12700">
            <a:solidFill>
              <a:srgbClr val="4A56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4228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Text generation, chat, summarization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76108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63071"/>
          </a:solidFill>
          <a:ln/>
        </p:spPr>
      </p:sp>
      <p:sp>
        <p:nvSpPr>
          <p:cNvPr id="19" name="Shape 17"/>
          <p:cNvSpPr/>
          <p:nvPr/>
        </p:nvSpPr>
        <p:spPr>
          <a:xfrm>
            <a:off x="9616288" y="20574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961628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8358988" y="28803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50428" y="33832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unified framework, encoder-decoder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33308" y="4572000"/>
            <a:ext cx="2606040" cy="0"/>
          </a:xfrm>
          <a:prstGeom prst="line">
            <a:avLst/>
          </a:prstGeom>
          <a:noFill/>
          <a:ln w="12700">
            <a:solidFill>
              <a:srgbClr val="4A56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04708" y="47091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Translation, summarization, multi-task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7" name="Picture 2" descr="Get Transcript from Saveetha University ...">
            <a:extLst>
              <a:ext uri="{FF2B5EF4-FFF2-40B4-BE49-F238E27FC236}">
                <a16:creationId xmlns:a16="http://schemas.microsoft.com/office/drawing/2014/main" id="{3038DFD3-7CA9-B2EC-4D7A-503BBA850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Saveetha School of Engineering, Chennai ...">
            <a:extLst>
              <a:ext uri="{FF2B5EF4-FFF2-40B4-BE49-F238E27FC236}">
                <a16:creationId xmlns:a16="http://schemas.microsoft.com/office/drawing/2014/main" id="{66B2C085-FE60-404E-348E-510187E8D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69924" y="411480"/>
            <a:ext cx="63227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complexity, interpretability and cost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0233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(HMM/CRF)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 (SVM/RF)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(RNN/LSTM)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 (BERT/GPT)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" name="Picture 3" descr="Saveetha School of Engineering, Chennai ...">
            <a:extLst>
              <a:ext uri="{FF2B5EF4-FFF2-40B4-BE49-F238E27FC236}">
                <a16:creationId xmlns:a16="http://schemas.microsoft.com/office/drawing/2014/main" id="{15AF03D3-553B-84C1-042E-1FD654E02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Get Transcript from Saveetha University ...">
            <a:extLst>
              <a:ext uri="{FF2B5EF4-FFF2-40B4-BE49-F238E27FC236}">
                <a16:creationId xmlns:a16="http://schemas.microsoft.com/office/drawing/2014/main" id="{C96704CA-B52A-3DAE-9F67-C0BE671E8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>
            <a:alpha val="4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Directions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best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depends on task, data availability, interpretability needs and compute budget.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371600" y="2679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moves from rule-based → statistical → deep learning → transformers, trading interpretability for accuracy.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371600" y="38221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06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transformers, few-shot learning, and hybrid symbolic-neural systems to cut cost and improve reasoning.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A69C22-C432-A14B-0E65-6081C1508294}"/>
              </a:ext>
            </a:extLst>
          </p:cNvPr>
          <p:cNvSpPr txBox="1"/>
          <p:nvPr/>
        </p:nvSpPr>
        <p:spPr>
          <a:xfrm>
            <a:off x="3133618" y="965771"/>
            <a:ext cx="60129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Conclusion &amp; Future Directions </a:t>
            </a:r>
            <a:endParaRPr lang="en-US" sz="2800" dirty="0"/>
          </a:p>
        </p:txBody>
      </p:sp>
      <p:pic>
        <p:nvPicPr>
          <p:cNvPr id="20" name="Picture 2" descr="Get Transcript from Saveetha University ...">
            <a:extLst>
              <a:ext uri="{FF2B5EF4-FFF2-40B4-BE49-F238E27FC236}">
                <a16:creationId xmlns:a16="http://schemas.microsoft.com/office/drawing/2014/main" id="{4F1D865B-1544-362E-D84B-0EFF43346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Saveetha School of Engineering, Chennai ...">
            <a:extLst>
              <a:ext uri="{FF2B5EF4-FFF2-40B4-BE49-F238E27FC236}">
                <a16:creationId xmlns:a16="http://schemas.microsoft.com/office/drawing/2014/main" id="{45D9504B-5482-A57E-03E5-C492B8329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aveetha School of Engineering, Chennai ...">
            <a:extLst>
              <a:ext uri="{FF2B5EF4-FFF2-40B4-BE49-F238E27FC236}">
                <a16:creationId xmlns:a16="http://schemas.microsoft.com/office/drawing/2014/main" id="{0F0C226C-D803-3685-DDFF-929C23E2B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7732" y="151065"/>
            <a:ext cx="808028" cy="79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et Transcript from Saveetha University ...">
            <a:extLst>
              <a:ext uri="{FF2B5EF4-FFF2-40B4-BE49-F238E27FC236}">
                <a16:creationId xmlns:a16="http://schemas.microsoft.com/office/drawing/2014/main" id="{E6F58AEA-BBA1-2CF6-75DE-E86FF5631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62" y="169164"/>
            <a:ext cx="1063831" cy="83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793992-FFBC-9059-533E-871C1AA66F6B}"/>
              </a:ext>
            </a:extLst>
          </p:cNvPr>
          <p:cNvSpPr txBox="1"/>
          <p:nvPr/>
        </p:nvSpPr>
        <p:spPr>
          <a:xfrm>
            <a:off x="3048856" y="3246902"/>
            <a:ext cx="60977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THANK YOU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99767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526</Words>
  <Application>Microsoft Office PowerPoint</Application>
  <PresentationFormat>Widescreen</PresentationFormat>
  <Paragraphs>120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lokshana devaraj</cp:lastModifiedBy>
  <cp:revision>2</cp:revision>
  <dcterms:created xsi:type="dcterms:W3CDTF">2026-07-25T03:52:12Z</dcterms:created>
  <dcterms:modified xsi:type="dcterms:W3CDTF">2026-07-25T04:33:34Z</dcterms:modified>
</cp:coreProperties>
</file>